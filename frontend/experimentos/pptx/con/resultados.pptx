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F8A"/>
                </a:solidFill>
                <a:latin typeface="Arial"/>
              </a:defRPr>
            </a:pPr>
            <a:r>
              <a:rPr sz="1200" b="0" i="0" u="none" strike="noStrike">
                <a:solidFill>
                  <a:srgbClr val="6B6F8A"/>
                </a:solidFill>
                <a:latin typeface="Arial"/>
              </a:rPr>
              <a:t>Variación junio–noviembre 2025</a:t>
            </a:r>
          </a:p>
        </c:rich>
      </c:tx>
      <c:layout/>
      <c:overlay val="0"/>
    </c:title>
    <c:autoTitleDeleted val="0"/>
    <c:plotArea>
      <c:layout/>
      <c:barChart>
        <c:barDir val="col"/>
        <c:grouping val="clustered"/>
        <c:varyColors val="0"/>
        <c:ser>
          <c:idx val="0"/>
          <c:order val="0"/>
          <c:tx>
            <c:strRef>
              <c:f>Sheet1!$B$1</c:f>
              <c:strCache>
                <c:ptCount val="1"/>
                <c:pt idx="0">
                  <c:v>Crecimiento</c:v>
                </c:pt>
              </c:strCache>
            </c:strRef>
          </c:tx>
          <c:spPr>
            <a:solidFill>
              <a:srgbClr val="2D3277"/>
            </a:solidFill>
            <a:effectLst/>
          </c:spPr>
          <c:invertIfNegative val="0"/>
          <c:dLbls>
            <c:numFmt formatCode="+0.0&quot;%&quot;" sourceLinked="0"/>
            <c:txPr>
              <a:bodyPr/>
              <a:lstStyle/>
              <a:p>
                <a:pPr>
                  <a:defRPr b="1" i="0" strike="noStrike" sz="2000" u="none">
                    <a:solidFill>
                      <a:srgbClr val="1F2240"/>
                    </a:solidFill>
                    <a:latin typeface="Arial"/>
                  </a:defRPr>
                </a:pPr>
              </a:p>
            </c:txPr>
            <c:showLegendKey val="0"/>
            <c:showVal val="1"/>
            <c:showCatName val="0"/>
            <c:showSerName val="0"/>
            <c:showPercent val="0"/>
            <c:showBubbleSize val="0"/>
            <c:showLeaderLines val="0"/>
          </c:dLbls>
          <c:dPt>
            <c:idx val="0"/>
            <c:invertIfNegative val="0"/>
            <c:bubble3D val="0"/>
            <c:spPr>
              <a:solidFill>
                <a:srgbClr val="2D3277"/>
              </a:solidFill>
              <a:effectLst/>
            </c:spPr>
          </c:dPt>
          <c:dPt>
            <c:idx val="1"/>
            <c:invertIfNegative val="0"/>
            <c:bubble3D val="0"/>
            <c:spPr>
              <a:solidFill>
                <a:srgbClr val="FFE600"/>
              </a:solidFill>
              <a:effectLst/>
            </c:spPr>
          </c:dPt>
          <c:cat>
            <c:multiLvlStrRef>
              <c:f>Sheet1!$A$2:$A$3</c:f>
              <c:multiLvlStrCache>
                <c:ptCount val="2"/>
                <c:lvl>
                  <c:pt idx="0">
                    <c:v>Ventas</c:v>
                  </c:pt>
                  <c:pt idx="1">
                    <c:v>Unidades</c:v>
                  </c:pt>
                </c:lvl>
              </c:multiLvlStrCache>
            </c:multiLvlStrRef>
          </c:cat>
          <c:val>
            <c:numRef>
              <c:f>Sheet1!$B$2:$B$3</c:f>
              <c:numCache>
                <c:formatCode>General</c:formatCode>
                <c:ptCount val="2"/>
                <c:pt idx="0">
                  <c:v>38.9</c:v>
                </c:pt>
                <c:pt idx="1">
                  <c:v>32.4</c:v>
                </c:pt>
              </c:numCache>
            </c:numRef>
          </c:val>
        </c:ser>
        <c:dLbls>
          <c:numFmt formatCode="+0.0&quot;%&quot;" sourceLinked="0"/>
          <c:txPr>
            <a:bodyPr/>
            <a:lstStyle/>
            <a:p>
              <a:pPr>
                <a:defRPr b="1" i="0" strike="noStrike" sz="2000" u="none">
                  <a:solidFill>
                    <a:srgbClr val="1F224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F2240"/>
                </a:solidFill>
                <a:latin typeface="Arial"/>
              </a:defRPr>
            </a:pPr>
            <a:endParaRPr lang="en-US"/>
          </a:p>
        </c:txPr>
        <c:crossAx val="2094734552"/>
        <c:crosses val="autoZero"/>
        <c:auto val="1"/>
        <c:lblAlgn val="ctr"/>
        <c:noMultiLvlLbl val="1"/>
      </c:catAx>
      <c:valAx>
        <c:axId val="2094734552"/>
        <c:scaling>
          <c:orientation val="minMax"/>
          <c:max val="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F8A"/>
                </a:solidFill>
                <a:latin typeface="Arial"/>
              </a:defRPr>
            </a:pPr>
            <a:r>
              <a:rPr sz="1200" b="0" i="0" u="none" strike="noStrike">
                <a:solidFill>
                  <a:srgbClr val="6B6F8A"/>
                </a:solidFill>
                <a:latin typeface="Arial"/>
              </a:rPr>
              <a:t>ACOS de Product Ads (menos es mejor)</a:t>
            </a:r>
          </a:p>
        </c:rich>
      </c:tx>
      <c:layout/>
      <c:overlay val="0"/>
    </c:title>
    <c:autoTitleDeleted val="0"/>
    <c:plotArea>
      <c:layout/>
      <c:barChart>
        <c:barDir val="col"/>
        <c:grouping val="clustered"/>
        <c:varyColors val="0"/>
        <c:ser>
          <c:idx val="0"/>
          <c:order val="0"/>
          <c:tx>
            <c:strRef>
              <c:f>Sheet1!$B$1</c:f>
              <c:strCache>
                <c:ptCount val="1"/>
                <c:pt idx="0">
                  <c:v>ACOS</c:v>
                </c:pt>
              </c:strCache>
            </c:strRef>
          </c:tx>
          <c:spPr>
            <a:solidFill>
              <a:srgbClr val="B8BBCC"/>
            </a:solidFill>
            <a:effectLst/>
          </c:spPr>
          <c:invertIfNegative val="0"/>
          <c:dLbls>
            <c:numFmt formatCode="0&quot;%&quot;" sourceLinked="0"/>
            <c:txPr>
              <a:bodyPr/>
              <a:lstStyle/>
              <a:p>
                <a:pPr>
                  <a:defRPr b="1" i="0" strike="noStrike" sz="2000" u="none">
                    <a:solidFill>
                      <a:srgbClr val="1F2240"/>
                    </a:solidFill>
                    <a:latin typeface="Arial"/>
                  </a:defRPr>
                </a:pPr>
              </a:p>
            </c:txPr>
            <c:showLegendKey val="0"/>
            <c:showVal val="1"/>
            <c:showCatName val="0"/>
            <c:showSerName val="0"/>
            <c:showPercent val="0"/>
            <c:showBubbleSize val="0"/>
            <c:showLeaderLines val="0"/>
          </c:dLbls>
          <c:dPt>
            <c:idx val="0"/>
            <c:invertIfNegative val="0"/>
            <c:bubble3D val="0"/>
            <c:spPr>
              <a:solidFill>
                <a:srgbClr val="B8BBCC"/>
              </a:solidFill>
              <a:effectLst/>
            </c:spPr>
          </c:dPt>
          <c:dPt>
            <c:idx val="1"/>
            <c:invertIfNegative val="0"/>
            <c:bubble3D val="0"/>
            <c:spPr>
              <a:solidFill>
                <a:srgbClr val="2D3277"/>
              </a:solidFill>
              <a:effectLst/>
            </c:spPr>
          </c:dPt>
          <c:cat>
            <c:multiLvlStrRef>
              <c:f>Sheet1!$A$2:$A$3</c:f>
              <c:multiLvlStrCache>
                <c:ptCount val="2"/>
                <c:lvl>
                  <c:pt idx="0">
                    <c:v>Al inicio</c:v>
                  </c:pt>
                  <c:pt idx="1">
                    <c:v>Al cierre</c:v>
                  </c:pt>
                </c:lvl>
              </c:multiLvlStrCache>
            </c:multiLvlStrRef>
          </c:cat>
          <c:val>
            <c:numRef>
              <c:f>Sheet1!$B$2:$B$3</c:f>
              <c:numCache>
                <c:formatCode>General</c:formatCode>
                <c:ptCount val="2"/>
                <c:pt idx="0">
                  <c:v>30</c:v>
                </c:pt>
                <c:pt idx="1">
                  <c:v>12</c:v>
                </c:pt>
              </c:numCache>
            </c:numRef>
          </c:val>
        </c:ser>
        <c:dLbls>
          <c:numFmt formatCode="0&quot;%&quot;" sourceLinked="0"/>
          <c:txPr>
            <a:bodyPr/>
            <a:lstStyle/>
            <a:p>
              <a:pPr>
                <a:defRPr b="1" i="0" strike="noStrike" sz="2000" u="none">
                  <a:solidFill>
                    <a:srgbClr val="1F224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240"/>
                </a:solidFill>
                <a:latin typeface="Arial"/>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los resultados de los primeros seis meses gestionando las tiendas oficiales de la empresa en Mercado Libre, de junio a noviembre de 2025. Vamos a repasar cuatro números: ventas, unidades, eficiencia publicitaria y el trabajo sobre el catálogo.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semestre. Las ventas crecieron 38,9% y las unidades 32,4%. El ACOS de Product Ads, que mide cuánto se invierte en publicidad por cada peso vendido con anuncios, bajó de 30% a 12%. Y se rehicieron más de 200 publicaciones: fotos, títulos y fichas técnicas.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más importante de esta diapositiva es que las unidades crecieron 32,4%. Eso muestra que el crecimiento es de volumen real, no solo de aumento de precios. Las ventas crecieron un poco más, 38,9%, así que el ticket promedio también acompañó.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ACOS es la inversión en Product Ads dividida por las ventas que generan esos anuncios. Pasó de 30% a 12%: antes gastábamos 30 pesos de publicidad por cada 100 vendidos, hoy gastamos 12. Es decir, cada peso invertido en publicidad genera 2,5 veces más ventas que al comienzo de la gestión.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Detrás de los números hay un trabajo de catálogo: más de 200 publicaciones rehechas, con fotos nuevas, títulos reescritos y fichas técnicas completas. Una publicación mejor armada convierte mejor y hace que cada peso de publicidad rinda más, por eso este trabajo explica buena parte de la caída del 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277"/>
        </a:solidFill>
      </p:bgPr>
    </p:bg>
    <p:spTree>
      <p:nvGrpSpPr>
        <p:cNvPr id="1" name=""/>
        <p:cNvGrpSpPr/>
        <p:nvPr/>
      </p:nvGrpSpPr>
      <p:grpSpPr>
        <a:xfrm>
          <a:off x="0" y="0"/>
          <a:ext cx="0" cy="0"/>
          <a:chOff x="0" y="0"/>
          <a:chExt cx="0" cy="0"/>
        </a:xfrm>
      </p:grpSpPr>
      <p:sp>
        <p:nvSpPr>
          <p:cNvPr id="2" name="Text 0"/>
          <p:cNvSpPr txBox="1"/>
          <p:nvPr/>
        </p:nvSpPr>
        <p:spPr>
          <a:xfrm>
            <a:off x="548640" y="960120"/>
            <a:ext cx="5486400" cy="274320"/>
          </a:xfrm>
          <a:prstGeom prst="rect">
            <a:avLst/>
          </a:prstGeom>
          <a:noFill/>
          <a:ln/>
        </p:spPr>
        <p:txBody>
          <a:bodyPr wrap="square" lIns="0" tIns="0" rIns="0" bIns="0" rtlCol="0" anchor="ctr"/>
          <a:lstStyle/>
          <a:p>
            <a:pPr indent="0" marL="0">
              <a:buNone/>
            </a:pPr>
            <a:r>
              <a:rPr lang="en-US" sz="1200" b="1" spc="200" kern="0" dirty="0">
                <a:solidFill>
                  <a:srgbClr val="FFE600"/>
                </a:solidFill>
                <a:latin typeface="Arial" pitchFamily="34" charset="0"/>
                <a:ea typeface="Arial" pitchFamily="34" charset="-122"/>
                <a:cs typeface="Arial" pitchFamily="34" charset="-120"/>
              </a:rPr>
              <a:t>INFORME DE GESTIÓN · JUNIO–NOVIEMBRE 2025</a:t>
            </a:r>
            <a:endParaRPr lang="en-US" sz="1200" dirty="0"/>
          </a:p>
        </p:txBody>
      </p:sp>
      <p:sp>
        <p:nvSpPr>
          <p:cNvPr id="3" name="Text 1"/>
          <p:cNvSpPr txBox="1"/>
          <p:nvPr/>
        </p:nvSpPr>
        <p:spPr>
          <a:xfrm>
            <a:off x="548640" y="1371600"/>
            <a:ext cx="5394960" cy="155448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Seis meses de tiendas oficiales en Mercado Libre</a:t>
            </a:r>
            <a:endParaRPr lang="en-US" sz="3800" dirty="0"/>
          </a:p>
        </p:txBody>
      </p:sp>
      <p:sp>
        <p:nvSpPr>
          <p:cNvPr id="4" name="Text 2"/>
          <p:cNvSpPr txBox="1"/>
          <p:nvPr/>
        </p:nvSpPr>
        <p:spPr>
          <a:xfrm>
            <a:off x="548640" y="3154680"/>
            <a:ext cx="5394960" cy="411480"/>
          </a:xfrm>
          <a:prstGeom prst="rect">
            <a:avLst/>
          </a:prstGeom>
          <a:noFill/>
          <a:ln/>
        </p:spPr>
        <p:txBody>
          <a:bodyPr wrap="square" lIns="0" tIns="0" rIns="0" bIns="0" rtlCol="0" anchor="ctr"/>
          <a:lstStyle/>
          <a:p>
            <a:pPr indent="0" marL="0">
              <a:buNone/>
            </a:pPr>
            <a:r>
              <a:rPr lang="en-US" sz="1800" dirty="0">
                <a:solidFill>
                  <a:srgbClr val="D9DBEA"/>
                </a:solidFill>
                <a:latin typeface="Arial" pitchFamily="34" charset="0"/>
                <a:ea typeface="Arial" pitchFamily="34" charset="-122"/>
                <a:cs typeface="Arial" pitchFamily="34" charset="-120"/>
              </a:rPr>
              <a:t>Resultados para la Dirección</a:t>
            </a:r>
            <a:endParaRPr lang="en-US" sz="1800" dirty="0"/>
          </a:p>
        </p:txBody>
      </p:sp>
      <p:sp>
        <p:nvSpPr>
          <p:cNvPr id="5" name="Shape 3"/>
          <p:cNvSpPr/>
          <p:nvPr/>
        </p:nvSpPr>
        <p:spPr>
          <a:xfrm>
            <a:off x="6309360" y="1234440"/>
            <a:ext cx="2468880" cy="2468880"/>
          </a:xfrm>
          <a:prstGeom prst="ellipse">
            <a:avLst/>
          </a:prstGeom>
          <a:solidFill>
            <a:srgbClr val="FFE600"/>
          </a:solidFill>
          <a:ln w="12700">
            <a:solidFill>
              <a:srgbClr val="FFE600"/>
            </a:solidFill>
            <a:prstDash val="solid"/>
          </a:ln>
        </p:spPr>
      </p:sp>
      <p:pic>
        <p:nvPicPr>
          <p:cNvPr id="6" name="Image 0" descr="preencoded.png">    </p:cNvPr>
          <p:cNvPicPr>
            <a:picLocks noChangeAspect="1"/>
          </p:cNvPicPr>
          <p:nvPr/>
        </p:nvPicPr>
        <p:blipFill>
          <a:blip r:embed="rId1"/>
          <a:stretch>
            <a:fillRect/>
          </a:stretch>
        </p:blipFill>
        <p:spPr>
          <a:xfrm>
            <a:off x="6903720" y="182880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200" b="1" dirty="0">
                <a:solidFill>
                  <a:srgbClr val="2D3277"/>
                </a:solidFill>
                <a:latin typeface="Arial" pitchFamily="34" charset="0"/>
                <a:ea typeface="Arial" pitchFamily="34" charset="-122"/>
                <a:cs typeface="Arial" pitchFamily="34" charset="-120"/>
              </a:rPr>
              <a:t>El semestre en cuatro números</a:t>
            </a:r>
            <a:endParaRPr lang="en-US" sz="3200" dirty="0"/>
          </a:p>
        </p:txBody>
      </p:sp>
      <p:sp>
        <p:nvSpPr>
          <p:cNvPr id="3" name="Shape 1"/>
          <p:cNvSpPr/>
          <p:nvPr/>
        </p:nvSpPr>
        <p:spPr>
          <a:xfrm>
            <a:off x="548640" y="1371600"/>
            <a:ext cx="1828800" cy="3200400"/>
          </a:xfrm>
          <a:prstGeom prst="roundRect">
            <a:avLst>
              <a:gd name="adj" fmla="val 6000"/>
            </a:avLst>
          </a:prstGeom>
          <a:solidFill>
            <a:srgbClr val="F3F4F9"/>
          </a:solidFill>
          <a:ln w="12700">
            <a:solidFill>
              <a:srgbClr val="F3F4F9"/>
            </a:solidFill>
            <a:prstDash val="solid"/>
          </a:ln>
        </p:spPr>
      </p:sp>
      <p:sp>
        <p:nvSpPr>
          <p:cNvPr id="4" name="Shape 2"/>
          <p:cNvSpPr/>
          <p:nvPr/>
        </p:nvSpPr>
        <p:spPr>
          <a:xfrm>
            <a:off x="777240" y="1645920"/>
            <a:ext cx="594360" cy="594360"/>
          </a:xfrm>
          <a:prstGeom prst="ellipse">
            <a:avLst/>
          </a:prstGeom>
          <a:solidFill>
            <a:srgbClr val="FFE600"/>
          </a:solidFill>
          <a:ln w="12700">
            <a:solidFill>
              <a:srgbClr val="FFE600"/>
            </a:solidFill>
            <a:prstDash val="solid"/>
          </a:ln>
        </p:spPr>
      </p:sp>
      <p:pic>
        <p:nvPicPr>
          <p:cNvPr id="5" name="Image 0" descr="preencoded.png">    </p:cNvPr>
          <p:cNvPicPr>
            <a:picLocks noChangeAspect="1"/>
          </p:cNvPicPr>
          <p:nvPr/>
        </p:nvPicPr>
        <p:blipFill>
          <a:blip r:embed="rId1"/>
          <a:stretch>
            <a:fillRect/>
          </a:stretch>
        </p:blipFill>
        <p:spPr>
          <a:xfrm>
            <a:off x="931774" y="1800454"/>
            <a:ext cx="285293" cy="285293"/>
          </a:xfrm>
          <a:prstGeom prst="rect">
            <a:avLst/>
          </a:prstGeom>
        </p:spPr>
      </p:pic>
      <p:sp>
        <p:nvSpPr>
          <p:cNvPr id="6" name="Text 3"/>
          <p:cNvSpPr txBox="1"/>
          <p:nvPr/>
        </p:nvSpPr>
        <p:spPr>
          <a:xfrm>
            <a:off x="777240" y="2468880"/>
            <a:ext cx="1463040" cy="594360"/>
          </a:xfrm>
          <a:prstGeom prst="rect">
            <a:avLst/>
          </a:prstGeom>
          <a:noFill/>
          <a:ln/>
        </p:spPr>
        <p:txBody>
          <a:bodyPr wrap="square" lIns="0" tIns="0" rIns="0" bIns="0" rtlCol="0" anchor="ctr"/>
          <a:lstStyle/>
          <a:p>
            <a:pPr indent="0" marL="0">
              <a:buNone/>
            </a:pPr>
            <a:r>
              <a:rPr lang="en-US" sz="3200" b="1" dirty="0">
                <a:solidFill>
                  <a:srgbClr val="2D3277"/>
                </a:solidFill>
                <a:latin typeface="Arial" pitchFamily="34" charset="0"/>
                <a:ea typeface="Arial" pitchFamily="34" charset="-122"/>
                <a:cs typeface="Arial" pitchFamily="34" charset="-120"/>
              </a:rPr>
              <a:t>+38,9%</a:t>
            </a:r>
            <a:endParaRPr lang="en-US" sz="3200" dirty="0"/>
          </a:p>
        </p:txBody>
      </p:sp>
      <p:sp>
        <p:nvSpPr>
          <p:cNvPr id="7" name="Text 4"/>
          <p:cNvSpPr txBox="1"/>
          <p:nvPr/>
        </p:nvSpPr>
        <p:spPr>
          <a:xfrm>
            <a:off x="777240" y="3154680"/>
            <a:ext cx="1463040" cy="548640"/>
          </a:xfrm>
          <a:prstGeom prst="rect">
            <a:avLst/>
          </a:prstGeom>
          <a:noFill/>
          <a:ln/>
        </p:spPr>
        <p:txBody>
          <a:bodyPr wrap="square" lIns="0" tIns="0" rIns="0" bIns="0" rtlCol="0" anchor="t"/>
          <a:lstStyle/>
          <a:p>
            <a:pPr indent="0" marL="0">
              <a:buNone/>
            </a:pPr>
            <a:r>
              <a:rPr lang="en-US" sz="1400" b="1" dirty="0">
                <a:solidFill>
                  <a:srgbClr val="1F2240"/>
                </a:solidFill>
                <a:latin typeface="Arial" pitchFamily="34" charset="0"/>
                <a:ea typeface="Arial" pitchFamily="34" charset="-122"/>
                <a:cs typeface="Arial" pitchFamily="34" charset="-120"/>
              </a:rPr>
              <a:t>Ventas</a:t>
            </a:r>
            <a:endParaRPr lang="en-US" sz="1400" dirty="0"/>
          </a:p>
        </p:txBody>
      </p:sp>
      <p:sp>
        <p:nvSpPr>
          <p:cNvPr id="8" name="Text 5"/>
          <p:cNvSpPr txBox="1"/>
          <p:nvPr/>
        </p:nvSpPr>
        <p:spPr>
          <a:xfrm>
            <a:off x="777240" y="3703320"/>
            <a:ext cx="1463040" cy="731520"/>
          </a:xfrm>
          <a:prstGeom prst="rect">
            <a:avLst/>
          </a:prstGeom>
          <a:noFill/>
          <a:ln/>
        </p:spPr>
        <p:txBody>
          <a:bodyPr wrap="square" lIns="0" tIns="0" rIns="0" bIns="0" rtlCol="0" anchor="t"/>
          <a:lstStyle/>
          <a:p>
            <a:pPr indent="0" marL="0">
              <a:buNone/>
            </a:pPr>
            <a:r>
              <a:rPr lang="en-US" sz="1100" dirty="0">
                <a:solidFill>
                  <a:srgbClr val="6B6F8A"/>
                </a:solidFill>
                <a:latin typeface="Arial" pitchFamily="34" charset="0"/>
                <a:ea typeface="Arial" pitchFamily="34" charset="-122"/>
                <a:cs typeface="Arial" pitchFamily="34" charset="-120"/>
              </a:rPr>
              <a:t>Crecimiento de la facturación en el período</a:t>
            </a:r>
            <a:endParaRPr lang="en-US" sz="1100" dirty="0"/>
          </a:p>
        </p:txBody>
      </p:sp>
      <p:sp>
        <p:nvSpPr>
          <p:cNvPr id="9" name="Shape 6"/>
          <p:cNvSpPr/>
          <p:nvPr/>
        </p:nvSpPr>
        <p:spPr>
          <a:xfrm>
            <a:off x="2624328" y="1371600"/>
            <a:ext cx="1828800" cy="3200400"/>
          </a:xfrm>
          <a:prstGeom prst="roundRect">
            <a:avLst>
              <a:gd name="adj" fmla="val 6000"/>
            </a:avLst>
          </a:prstGeom>
          <a:solidFill>
            <a:srgbClr val="F3F4F9"/>
          </a:solidFill>
          <a:ln w="12700">
            <a:solidFill>
              <a:srgbClr val="F3F4F9"/>
            </a:solidFill>
            <a:prstDash val="solid"/>
          </a:ln>
        </p:spPr>
      </p:sp>
      <p:sp>
        <p:nvSpPr>
          <p:cNvPr id="10" name="Shape 7"/>
          <p:cNvSpPr/>
          <p:nvPr/>
        </p:nvSpPr>
        <p:spPr>
          <a:xfrm>
            <a:off x="2852928" y="1645920"/>
            <a:ext cx="594360" cy="594360"/>
          </a:xfrm>
          <a:prstGeom prst="ellipse">
            <a:avLst/>
          </a:prstGeom>
          <a:solidFill>
            <a:srgbClr val="FFE600"/>
          </a:solidFill>
          <a:ln w="12700">
            <a:solidFill>
              <a:srgbClr val="FFE600"/>
            </a:solidFill>
            <a:prstDash val="solid"/>
          </a:ln>
        </p:spPr>
      </p:sp>
      <p:pic>
        <p:nvPicPr>
          <p:cNvPr id="11" name="Image 1" descr="preencoded.png">    </p:cNvPr>
          <p:cNvPicPr>
            <a:picLocks noChangeAspect="1"/>
          </p:cNvPicPr>
          <p:nvPr/>
        </p:nvPicPr>
        <p:blipFill>
          <a:blip r:embed="rId2"/>
          <a:stretch>
            <a:fillRect/>
          </a:stretch>
        </p:blipFill>
        <p:spPr>
          <a:xfrm>
            <a:off x="3007462" y="1800454"/>
            <a:ext cx="285293" cy="285293"/>
          </a:xfrm>
          <a:prstGeom prst="rect">
            <a:avLst/>
          </a:prstGeom>
        </p:spPr>
      </p:pic>
      <p:sp>
        <p:nvSpPr>
          <p:cNvPr id="12" name="Text 8"/>
          <p:cNvSpPr txBox="1"/>
          <p:nvPr/>
        </p:nvSpPr>
        <p:spPr>
          <a:xfrm>
            <a:off x="2852928" y="2468880"/>
            <a:ext cx="1463040" cy="594360"/>
          </a:xfrm>
          <a:prstGeom prst="rect">
            <a:avLst/>
          </a:prstGeom>
          <a:noFill/>
          <a:ln/>
        </p:spPr>
        <p:txBody>
          <a:bodyPr wrap="square" lIns="0" tIns="0" rIns="0" bIns="0" rtlCol="0" anchor="ctr"/>
          <a:lstStyle/>
          <a:p>
            <a:pPr indent="0" marL="0">
              <a:buNone/>
            </a:pPr>
            <a:r>
              <a:rPr lang="en-US" sz="3200" b="1" dirty="0">
                <a:solidFill>
                  <a:srgbClr val="2D3277"/>
                </a:solidFill>
                <a:latin typeface="Arial" pitchFamily="34" charset="0"/>
                <a:ea typeface="Arial" pitchFamily="34" charset="-122"/>
                <a:cs typeface="Arial" pitchFamily="34" charset="-120"/>
              </a:rPr>
              <a:t>+32,4%</a:t>
            </a:r>
            <a:endParaRPr lang="en-US" sz="3200" dirty="0"/>
          </a:p>
        </p:txBody>
      </p:sp>
      <p:sp>
        <p:nvSpPr>
          <p:cNvPr id="13" name="Text 9"/>
          <p:cNvSpPr txBox="1"/>
          <p:nvPr/>
        </p:nvSpPr>
        <p:spPr>
          <a:xfrm>
            <a:off x="2852928" y="3154680"/>
            <a:ext cx="1463040" cy="548640"/>
          </a:xfrm>
          <a:prstGeom prst="rect">
            <a:avLst/>
          </a:prstGeom>
          <a:noFill/>
          <a:ln/>
        </p:spPr>
        <p:txBody>
          <a:bodyPr wrap="square" lIns="0" tIns="0" rIns="0" bIns="0" rtlCol="0" anchor="t"/>
          <a:lstStyle/>
          <a:p>
            <a:pPr indent="0" marL="0">
              <a:buNone/>
            </a:pPr>
            <a:r>
              <a:rPr lang="en-US" sz="1400" b="1" dirty="0">
                <a:solidFill>
                  <a:srgbClr val="1F2240"/>
                </a:solidFill>
                <a:latin typeface="Arial" pitchFamily="34" charset="0"/>
                <a:ea typeface="Arial" pitchFamily="34" charset="-122"/>
                <a:cs typeface="Arial" pitchFamily="34" charset="-120"/>
              </a:rPr>
              <a:t>Unidades vendidas</a:t>
            </a:r>
            <a:endParaRPr lang="en-US" sz="1400" dirty="0"/>
          </a:p>
        </p:txBody>
      </p:sp>
      <p:sp>
        <p:nvSpPr>
          <p:cNvPr id="14" name="Text 10"/>
          <p:cNvSpPr txBox="1"/>
          <p:nvPr/>
        </p:nvSpPr>
        <p:spPr>
          <a:xfrm>
            <a:off x="2852928" y="3703320"/>
            <a:ext cx="1463040" cy="731520"/>
          </a:xfrm>
          <a:prstGeom prst="rect">
            <a:avLst/>
          </a:prstGeom>
          <a:noFill/>
          <a:ln/>
        </p:spPr>
        <p:txBody>
          <a:bodyPr wrap="square" lIns="0" tIns="0" rIns="0" bIns="0" rtlCol="0" anchor="t"/>
          <a:lstStyle/>
          <a:p>
            <a:pPr indent="0" marL="0">
              <a:buNone/>
            </a:pPr>
            <a:r>
              <a:rPr lang="en-US" sz="1100" dirty="0">
                <a:solidFill>
                  <a:srgbClr val="6B6F8A"/>
                </a:solidFill>
                <a:latin typeface="Arial" pitchFamily="34" charset="0"/>
                <a:ea typeface="Arial" pitchFamily="34" charset="-122"/>
                <a:cs typeface="Arial" pitchFamily="34" charset="-120"/>
              </a:rPr>
              <a:t>Más productos despachados, no solo más precio</a:t>
            </a:r>
            <a:endParaRPr lang="en-US" sz="1100" dirty="0"/>
          </a:p>
        </p:txBody>
      </p:sp>
      <p:sp>
        <p:nvSpPr>
          <p:cNvPr id="15" name="Shape 11"/>
          <p:cNvSpPr/>
          <p:nvPr/>
        </p:nvSpPr>
        <p:spPr>
          <a:xfrm>
            <a:off x="4700016" y="1371600"/>
            <a:ext cx="1828800" cy="3200400"/>
          </a:xfrm>
          <a:prstGeom prst="roundRect">
            <a:avLst>
              <a:gd name="adj" fmla="val 6000"/>
            </a:avLst>
          </a:prstGeom>
          <a:solidFill>
            <a:srgbClr val="F3F4F9"/>
          </a:solidFill>
          <a:ln w="12700">
            <a:solidFill>
              <a:srgbClr val="F3F4F9"/>
            </a:solidFill>
            <a:prstDash val="solid"/>
          </a:ln>
        </p:spPr>
      </p:sp>
      <p:sp>
        <p:nvSpPr>
          <p:cNvPr id="16" name="Shape 12"/>
          <p:cNvSpPr/>
          <p:nvPr/>
        </p:nvSpPr>
        <p:spPr>
          <a:xfrm>
            <a:off x="4928616" y="1645920"/>
            <a:ext cx="594360" cy="594360"/>
          </a:xfrm>
          <a:prstGeom prst="ellipse">
            <a:avLst/>
          </a:prstGeom>
          <a:solidFill>
            <a:srgbClr val="FFE600"/>
          </a:solidFill>
          <a:ln w="12700">
            <a:solidFill>
              <a:srgbClr val="FFE600"/>
            </a:solidFill>
            <a:prstDash val="solid"/>
          </a:ln>
        </p:spPr>
      </p:sp>
      <p:pic>
        <p:nvPicPr>
          <p:cNvPr id="17" name="Image 2" descr="preencoded.png">    </p:cNvPr>
          <p:cNvPicPr>
            <a:picLocks noChangeAspect="1"/>
          </p:cNvPicPr>
          <p:nvPr/>
        </p:nvPicPr>
        <p:blipFill>
          <a:blip r:embed="rId3"/>
          <a:stretch>
            <a:fillRect/>
          </a:stretch>
        </p:blipFill>
        <p:spPr>
          <a:xfrm>
            <a:off x="5083150" y="1800454"/>
            <a:ext cx="285293" cy="285293"/>
          </a:xfrm>
          <a:prstGeom prst="rect">
            <a:avLst/>
          </a:prstGeom>
        </p:spPr>
      </p:pic>
      <p:sp>
        <p:nvSpPr>
          <p:cNvPr id="18" name="Text 13"/>
          <p:cNvSpPr txBox="1"/>
          <p:nvPr/>
        </p:nvSpPr>
        <p:spPr>
          <a:xfrm>
            <a:off x="4928616" y="2468880"/>
            <a:ext cx="1463040" cy="594360"/>
          </a:xfrm>
          <a:prstGeom prst="rect">
            <a:avLst/>
          </a:prstGeom>
          <a:noFill/>
          <a:ln/>
        </p:spPr>
        <p:txBody>
          <a:bodyPr wrap="square" lIns="0" tIns="0" rIns="0" bIns="0" rtlCol="0" anchor="ctr"/>
          <a:lstStyle/>
          <a:p>
            <a:pPr indent="0" marL="0">
              <a:buNone/>
            </a:pPr>
            <a:r>
              <a:rPr lang="en-US" sz="3200" b="1" dirty="0">
                <a:solidFill>
                  <a:srgbClr val="2D3277"/>
                </a:solidFill>
                <a:latin typeface="Arial" pitchFamily="34" charset="0"/>
                <a:ea typeface="Arial" pitchFamily="34" charset="-122"/>
                <a:cs typeface="Arial" pitchFamily="34" charset="-120"/>
              </a:rPr>
              <a:t>12%</a:t>
            </a:r>
            <a:endParaRPr lang="en-US" sz="3200" dirty="0"/>
          </a:p>
        </p:txBody>
      </p:sp>
      <p:sp>
        <p:nvSpPr>
          <p:cNvPr id="19" name="Text 14"/>
          <p:cNvSpPr txBox="1"/>
          <p:nvPr/>
        </p:nvSpPr>
        <p:spPr>
          <a:xfrm>
            <a:off x="4928616" y="3154680"/>
            <a:ext cx="1463040" cy="548640"/>
          </a:xfrm>
          <a:prstGeom prst="rect">
            <a:avLst/>
          </a:prstGeom>
          <a:noFill/>
          <a:ln/>
        </p:spPr>
        <p:txBody>
          <a:bodyPr wrap="square" lIns="0" tIns="0" rIns="0" bIns="0" rtlCol="0" anchor="t"/>
          <a:lstStyle/>
          <a:p>
            <a:pPr indent="0" marL="0">
              <a:buNone/>
            </a:pPr>
            <a:r>
              <a:rPr lang="en-US" sz="1400" b="1" dirty="0">
                <a:solidFill>
                  <a:srgbClr val="1F2240"/>
                </a:solidFill>
                <a:latin typeface="Arial" pitchFamily="34" charset="0"/>
                <a:ea typeface="Arial" pitchFamily="34" charset="-122"/>
                <a:cs typeface="Arial" pitchFamily="34" charset="-120"/>
              </a:rPr>
              <a:t>ACOS de Product Ads</a:t>
            </a:r>
            <a:endParaRPr lang="en-US" sz="1400" dirty="0"/>
          </a:p>
        </p:txBody>
      </p:sp>
      <p:sp>
        <p:nvSpPr>
          <p:cNvPr id="20" name="Text 15"/>
          <p:cNvSpPr txBox="1"/>
          <p:nvPr/>
        </p:nvSpPr>
        <p:spPr>
          <a:xfrm>
            <a:off x="4928616" y="3703320"/>
            <a:ext cx="1463040" cy="731520"/>
          </a:xfrm>
          <a:prstGeom prst="rect">
            <a:avLst/>
          </a:prstGeom>
          <a:noFill/>
          <a:ln/>
        </p:spPr>
        <p:txBody>
          <a:bodyPr wrap="square" lIns="0" tIns="0" rIns="0" bIns="0" rtlCol="0" anchor="t"/>
          <a:lstStyle/>
          <a:p>
            <a:pPr indent="0" marL="0">
              <a:buNone/>
            </a:pPr>
            <a:r>
              <a:rPr lang="en-US" sz="1100" dirty="0">
                <a:solidFill>
                  <a:srgbClr val="6B6F8A"/>
                </a:solidFill>
                <a:latin typeface="Arial" pitchFamily="34" charset="0"/>
                <a:ea typeface="Arial" pitchFamily="34" charset="-122"/>
                <a:cs typeface="Arial" pitchFamily="34" charset="-120"/>
              </a:rPr>
              <a:t>Antes 30%: cuánto invertimos en publicidad por peso vendido</a:t>
            </a:r>
            <a:endParaRPr lang="en-US" sz="1100" dirty="0"/>
          </a:p>
        </p:txBody>
      </p:sp>
      <p:sp>
        <p:nvSpPr>
          <p:cNvPr id="21" name="Shape 16"/>
          <p:cNvSpPr/>
          <p:nvPr/>
        </p:nvSpPr>
        <p:spPr>
          <a:xfrm>
            <a:off x="6775704" y="1371600"/>
            <a:ext cx="1828800" cy="3200400"/>
          </a:xfrm>
          <a:prstGeom prst="roundRect">
            <a:avLst>
              <a:gd name="adj" fmla="val 6000"/>
            </a:avLst>
          </a:prstGeom>
          <a:solidFill>
            <a:srgbClr val="F3F4F9"/>
          </a:solidFill>
          <a:ln w="12700">
            <a:solidFill>
              <a:srgbClr val="F3F4F9"/>
            </a:solidFill>
            <a:prstDash val="solid"/>
          </a:ln>
        </p:spPr>
      </p:sp>
      <p:sp>
        <p:nvSpPr>
          <p:cNvPr id="22" name="Shape 17"/>
          <p:cNvSpPr/>
          <p:nvPr/>
        </p:nvSpPr>
        <p:spPr>
          <a:xfrm>
            <a:off x="7004304" y="1645920"/>
            <a:ext cx="594360" cy="594360"/>
          </a:xfrm>
          <a:prstGeom prst="ellipse">
            <a:avLst/>
          </a:prstGeom>
          <a:solidFill>
            <a:srgbClr val="FFE600"/>
          </a:solidFill>
          <a:ln w="12700">
            <a:solidFill>
              <a:srgbClr val="FFE600"/>
            </a:solidFill>
            <a:prstDash val="solid"/>
          </a:ln>
        </p:spPr>
      </p:sp>
      <p:pic>
        <p:nvPicPr>
          <p:cNvPr id="23" name="Image 3" descr="preencoded.png">    </p:cNvPr>
          <p:cNvPicPr>
            <a:picLocks noChangeAspect="1"/>
          </p:cNvPicPr>
          <p:nvPr/>
        </p:nvPicPr>
        <p:blipFill>
          <a:blip r:embed="rId4"/>
          <a:stretch>
            <a:fillRect/>
          </a:stretch>
        </p:blipFill>
        <p:spPr>
          <a:xfrm>
            <a:off x="7158838" y="1800454"/>
            <a:ext cx="285293" cy="285293"/>
          </a:xfrm>
          <a:prstGeom prst="rect">
            <a:avLst/>
          </a:prstGeom>
        </p:spPr>
      </p:pic>
      <p:sp>
        <p:nvSpPr>
          <p:cNvPr id="24" name="Text 18"/>
          <p:cNvSpPr txBox="1"/>
          <p:nvPr/>
        </p:nvSpPr>
        <p:spPr>
          <a:xfrm>
            <a:off x="7004304" y="2468880"/>
            <a:ext cx="1463040" cy="594360"/>
          </a:xfrm>
          <a:prstGeom prst="rect">
            <a:avLst/>
          </a:prstGeom>
          <a:noFill/>
          <a:ln/>
        </p:spPr>
        <p:txBody>
          <a:bodyPr wrap="square" lIns="0" tIns="0" rIns="0" bIns="0" rtlCol="0" anchor="ctr"/>
          <a:lstStyle/>
          <a:p>
            <a:pPr indent="0" marL="0">
              <a:buNone/>
            </a:pPr>
            <a:r>
              <a:rPr lang="en-US" sz="3200" b="1" dirty="0">
                <a:solidFill>
                  <a:srgbClr val="2D3277"/>
                </a:solidFill>
                <a:latin typeface="Arial" pitchFamily="34" charset="0"/>
                <a:ea typeface="Arial" pitchFamily="34" charset="-122"/>
                <a:cs typeface="Arial" pitchFamily="34" charset="-120"/>
              </a:rPr>
              <a:t>+200</a:t>
            </a:r>
            <a:endParaRPr lang="en-US" sz="3200" dirty="0"/>
          </a:p>
        </p:txBody>
      </p:sp>
      <p:sp>
        <p:nvSpPr>
          <p:cNvPr id="25" name="Text 19"/>
          <p:cNvSpPr txBox="1"/>
          <p:nvPr/>
        </p:nvSpPr>
        <p:spPr>
          <a:xfrm>
            <a:off x="7004304" y="3154680"/>
            <a:ext cx="1463040" cy="548640"/>
          </a:xfrm>
          <a:prstGeom prst="rect">
            <a:avLst/>
          </a:prstGeom>
          <a:noFill/>
          <a:ln/>
        </p:spPr>
        <p:txBody>
          <a:bodyPr wrap="square" lIns="0" tIns="0" rIns="0" bIns="0" rtlCol="0" anchor="t"/>
          <a:lstStyle/>
          <a:p>
            <a:pPr indent="0" marL="0">
              <a:buNone/>
            </a:pPr>
            <a:r>
              <a:rPr lang="en-US" sz="1400" b="1" dirty="0">
                <a:solidFill>
                  <a:srgbClr val="1F2240"/>
                </a:solidFill>
                <a:latin typeface="Arial" pitchFamily="34" charset="0"/>
                <a:ea typeface="Arial" pitchFamily="34" charset="-122"/>
                <a:cs typeface="Arial" pitchFamily="34" charset="-120"/>
              </a:rPr>
              <a:t>Publicaciones rehechas</a:t>
            </a:r>
            <a:endParaRPr lang="en-US" sz="1400" dirty="0"/>
          </a:p>
        </p:txBody>
      </p:sp>
      <p:sp>
        <p:nvSpPr>
          <p:cNvPr id="26" name="Text 20"/>
          <p:cNvSpPr txBox="1"/>
          <p:nvPr/>
        </p:nvSpPr>
        <p:spPr>
          <a:xfrm>
            <a:off x="7004304" y="3703320"/>
            <a:ext cx="1463040" cy="731520"/>
          </a:xfrm>
          <a:prstGeom prst="rect">
            <a:avLst/>
          </a:prstGeom>
          <a:noFill/>
          <a:ln/>
        </p:spPr>
        <p:txBody>
          <a:bodyPr wrap="square" lIns="0" tIns="0" rIns="0" bIns="0" rtlCol="0" anchor="t"/>
          <a:lstStyle/>
          <a:p>
            <a:pPr indent="0" marL="0">
              <a:buNone/>
            </a:pPr>
            <a:r>
              <a:rPr lang="en-US" sz="1100" dirty="0">
                <a:solidFill>
                  <a:srgbClr val="6B6F8A"/>
                </a:solidFill>
                <a:latin typeface="Arial" pitchFamily="34" charset="0"/>
                <a:ea typeface="Arial" pitchFamily="34" charset="-122"/>
                <a:cs typeface="Arial" pitchFamily="34" charset="-120"/>
              </a:rPr>
              <a:t>Fotos, títulos y fichas técnicas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200" b="1" dirty="0">
                <a:solidFill>
                  <a:srgbClr val="2D3277"/>
                </a:solidFill>
                <a:latin typeface="Arial" pitchFamily="34" charset="0"/>
                <a:ea typeface="Arial" pitchFamily="34" charset="-122"/>
                <a:cs typeface="Arial" pitchFamily="34" charset="-120"/>
              </a:rPr>
              <a:t>Crecimos en facturación y en volumen</a:t>
            </a:r>
            <a:endParaRPr lang="en-US" sz="3200" dirty="0"/>
          </a:p>
        </p:txBody>
      </p:sp>
      <p:graphicFrame>
        <p:nvGraphicFramePr>
          <p:cNvPr id="3" name="Chart 0" descr=""/>
          <p:cNvGraphicFramePr/>
          <p:nvPr/>
        </p:nvGraphicFramePr>
        <p:xfrm>
          <a:off x="457200" y="128016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394960" y="1371600"/>
            <a:ext cx="3200400" cy="3108960"/>
          </a:xfrm>
          <a:prstGeom prst="roundRect">
            <a:avLst>
              <a:gd name="adj" fmla="val 3529"/>
            </a:avLst>
          </a:prstGeom>
          <a:solidFill>
            <a:srgbClr val="F3F4F9"/>
          </a:solidFill>
          <a:ln w="12700">
            <a:solidFill>
              <a:srgbClr val="F3F4F9"/>
            </a:solidFill>
            <a:prstDash val="solid"/>
          </a:ln>
        </p:spPr>
      </p:sp>
      <p:sp>
        <p:nvSpPr>
          <p:cNvPr id="5" name="Text 2"/>
          <p:cNvSpPr txBox="1"/>
          <p:nvPr/>
        </p:nvSpPr>
        <p:spPr>
          <a:xfrm>
            <a:off x="5669280" y="1600200"/>
            <a:ext cx="2651760" cy="365760"/>
          </a:xfrm>
          <a:prstGeom prst="rect">
            <a:avLst/>
          </a:prstGeom>
          <a:noFill/>
          <a:ln/>
        </p:spPr>
        <p:txBody>
          <a:bodyPr wrap="square" lIns="0" tIns="0" rIns="0" bIns="0" rtlCol="0" anchor="ctr"/>
          <a:lstStyle/>
          <a:p>
            <a:pPr indent="0" marL="0">
              <a:buNone/>
            </a:pPr>
            <a:r>
              <a:rPr lang="en-US" sz="1600" b="1" dirty="0">
                <a:solidFill>
                  <a:srgbClr val="2D3277"/>
                </a:solidFill>
                <a:latin typeface="Arial" pitchFamily="34" charset="0"/>
                <a:ea typeface="Arial" pitchFamily="34" charset="-122"/>
                <a:cs typeface="Arial" pitchFamily="34" charset="-120"/>
              </a:rPr>
              <a:t>Qué nos dice</a:t>
            </a:r>
            <a:endParaRPr lang="en-US" sz="1600" dirty="0"/>
          </a:p>
        </p:txBody>
      </p:sp>
      <p:sp>
        <p:nvSpPr>
          <p:cNvPr id="6" name="Text 3"/>
          <p:cNvSpPr txBox="1"/>
          <p:nvPr/>
        </p:nvSpPr>
        <p:spPr>
          <a:xfrm>
            <a:off x="5669280" y="2103120"/>
            <a:ext cx="269748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240"/>
                </a:solidFill>
                <a:latin typeface="Arial" pitchFamily="34" charset="0"/>
                <a:ea typeface="Arial" pitchFamily="34" charset="-122"/>
                <a:cs typeface="Arial" pitchFamily="34" charset="-120"/>
              </a:rPr>
              <a:t>Las unidades suben 32,4%: el crecimiento no es solo efecto precio, se vendieron más productos.</a:t>
            </a:r>
            <a:endParaRPr lang="en-US" sz="1400" dirty="0"/>
          </a:p>
          <a:p>
            <a:pPr marL="342900" indent="-342900">
              <a:spcAft>
                <a:spcPts val="1000"/>
              </a:spcAft>
              <a:buSzPct val="100000"/>
              <a:buChar char="•"/>
            </a:pPr>
            <a:r>
              <a:rPr lang="en-US" sz="1400" dirty="0">
                <a:solidFill>
                  <a:srgbClr val="1F2240"/>
                </a:solidFill>
                <a:latin typeface="Arial" pitchFamily="34" charset="0"/>
                <a:ea typeface="Arial" pitchFamily="34" charset="-122"/>
                <a:cs typeface="Arial" pitchFamily="34" charset="-120"/>
              </a:rPr>
              <a:t>Las ventas crecen algo más que las unidades, por lo que el ticket promedio también subió.</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200" b="1" dirty="0">
                <a:solidFill>
                  <a:srgbClr val="2D3277"/>
                </a:solidFill>
                <a:latin typeface="Arial" pitchFamily="34" charset="0"/>
                <a:ea typeface="Arial" pitchFamily="34" charset="-122"/>
                <a:cs typeface="Arial" pitchFamily="34" charset="-120"/>
              </a:rPr>
              <a:t>La publicidad rinde 2,5 veces más</a:t>
            </a:r>
            <a:endParaRPr lang="en-US" sz="3200" dirty="0"/>
          </a:p>
        </p:txBody>
      </p:sp>
      <p:sp>
        <p:nvSpPr>
          <p:cNvPr id="3" name="Shape 1"/>
          <p:cNvSpPr/>
          <p:nvPr/>
        </p:nvSpPr>
        <p:spPr>
          <a:xfrm>
            <a:off x="548640" y="1371600"/>
            <a:ext cx="3566160" cy="3108960"/>
          </a:xfrm>
          <a:prstGeom prst="roundRect">
            <a:avLst>
              <a:gd name="adj" fmla="val 3529"/>
            </a:avLst>
          </a:prstGeom>
          <a:solidFill>
            <a:srgbClr val="2D3277"/>
          </a:solidFill>
          <a:ln w="12700">
            <a:solidFill>
              <a:srgbClr val="2D3277"/>
            </a:solidFill>
            <a:prstDash val="solid"/>
          </a:ln>
        </p:spPr>
      </p:sp>
      <p:sp>
        <p:nvSpPr>
          <p:cNvPr id="4" name="Text 2"/>
          <p:cNvSpPr txBox="1"/>
          <p:nvPr/>
        </p:nvSpPr>
        <p:spPr>
          <a:xfrm>
            <a:off x="822960" y="1600200"/>
            <a:ext cx="3017520" cy="64008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Por cada $100 vendidos con Product Ads, invertíamos</a:t>
            </a:r>
            <a:endParaRPr lang="en-US" sz="1400" dirty="0"/>
          </a:p>
        </p:txBody>
      </p:sp>
      <p:sp>
        <p:nvSpPr>
          <p:cNvPr id="5" name="Text 3"/>
          <p:cNvSpPr txBox="1"/>
          <p:nvPr/>
        </p:nvSpPr>
        <p:spPr>
          <a:xfrm>
            <a:off x="822960" y="2286000"/>
            <a:ext cx="3017520" cy="914400"/>
          </a:xfrm>
          <a:prstGeom prst="rect">
            <a:avLst/>
          </a:prstGeom>
          <a:noFill/>
          <a:ln/>
        </p:spPr>
        <p:txBody>
          <a:bodyPr wrap="square" lIns="0" tIns="0" rIns="0" bIns="0" rtlCol="0" anchor="ctr"/>
          <a:lstStyle/>
          <a:p>
            <a:pPr indent="0" marL="0">
              <a:buNone/>
            </a:pPr>
            <a:r>
              <a:rPr lang="en-US" sz="4000" b="1" dirty="0">
                <a:solidFill>
                  <a:srgbClr val="B8BBCC"/>
                </a:solidFill>
                <a:latin typeface="Arial" pitchFamily="34" charset="0"/>
                <a:ea typeface="Arial" pitchFamily="34" charset="-122"/>
                <a:cs typeface="Arial" pitchFamily="34" charset="-120"/>
              </a:rPr>
              <a:t>$30</a:t>
            </a:r>
            <a:pPr indent="0" marL="0">
              <a:buNone/>
            </a:pPr>
            <a:r>
              <a:rPr lang="en-US" sz="2800" dirty="0">
                <a:solidFill>
                  <a:srgbClr val="FFFFFF"/>
                </a:solidFill>
                <a:latin typeface="Arial" pitchFamily="34" charset="0"/>
                <a:ea typeface="Arial" pitchFamily="34" charset="-122"/>
                <a:cs typeface="Arial" pitchFamily="34" charset="-120"/>
              </a:rPr>
              <a:t>  →  </a:t>
            </a:r>
            <a:pPr indent="0" marL="0">
              <a:buNone/>
            </a:pPr>
            <a:r>
              <a:rPr lang="en-US" sz="5400" b="1" dirty="0">
                <a:solidFill>
                  <a:srgbClr val="FFE600"/>
                </a:solidFill>
                <a:latin typeface="Arial" pitchFamily="34" charset="0"/>
                <a:ea typeface="Arial" pitchFamily="34" charset="-122"/>
                <a:cs typeface="Arial" pitchFamily="34" charset="-120"/>
              </a:rPr>
              <a:t>$12</a:t>
            </a:r>
            <a:endParaRPr lang="en-US" sz="4000" dirty="0"/>
          </a:p>
        </p:txBody>
      </p:sp>
      <p:sp>
        <p:nvSpPr>
          <p:cNvPr id="6" name="Text 4"/>
          <p:cNvSpPr txBox="1"/>
          <p:nvPr/>
        </p:nvSpPr>
        <p:spPr>
          <a:xfrm>
            <a:off x="822960" y="3383280"/>
            <a:ext cx="3017520" cy="822960"/>
          </a:xfrm>
          <a:prstGeom prst="rect">
            <a:avLst/>
          </a:prstGeom>
          <a:noFill/>
          <a:ln/>
        </p:spPr>
        <p:txBody>
          <a:bodyPr wrap="square" lIns="0" tIns="0" rIns="0" bIns="0" rtlCol="0" anchor="t"/>
          <a:lstStyle/>
          <a:p>
            <a:pPr indent="0" marL="0">
              <a:buNone/>
            </a:pPr>
            <a:r>
              <a:rPr lang="en-US" sz="1300" dirty="0">
                <a:solidFill>
                  <a:srgbClr val="D9DBEA"/>
                </a:solidFill>
                <a:latin typeface="Arial" pitchFamily="34" charset="0"/>
                <a:ea typeface="Arial" pitchFamily="34" charset="-122"/>
                <a:cs typeface="Arial" pitchFamily="34" charset="-120"/>
              </a:rPr>
              <a:t>−18 puntos de ACOS: el costo publicitario sobre ventas bajó 60%.</a:t>
            </a:r>
            <a:endParaRPr lang="en-US" sz="1300" dirty="0"/>
          </a:p>
        </p:txBody>
      </p:sp>
      <p:graphicFrame>
        <p:nvGraphicFramePr>
          <p:cNvPr id="7" name="Chart 0" descr=""/>
          <p:cNvGraphicFramePr/>
          <p:nvPr/>
        </p:nvGraphicFramePr>
        <p:xfrm>
          <a:off x="4480560" y="1280160"/>
          <a:ext cx="4206240" cy="3291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D3277"/>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Más de 200 publicaciones rehechas</a:t>
            </a:r>
            <a:endParaRPr lang="en-US" sz="3200" dirty="0"/>
          </a:p>
        </p:txBody>
      </p:sp>
      <p:sp>
        <p:nvSpPr>
          <p:cNvPr id="3" name="Text 1"/>
          <p:cNvSpPr txBox="1"/>
          <p:nvPr/>
        </p:nvSpPr>
        <p:spPr>
          <a:xfrm>
            <a:off x="548640" y="1051560"/>
            <a:ext cx="8046720" cy="365760"/>
          </a:xfrm>
          <a:prstGeom prst="rect">
            <a:avLst/>
          </a:prstGeom>
          <a:noFill/>
          <a:ln/>
        </p:spPr>
        <p:txBody>
          <a:bodyPr wrap="square" lIns="0" tIns="0" rIns="0" bIns="0" rtlCol="0" anchor="ctr"/>
          <a:lstStyle/>
          <a:p>
            <a:pPr indent="0" marL="0">
              <a:buNone/>
            </a:pPr>
            <a:r>
              <a:rPr lang="en-US" sz="1600" dirty="0">
                <a:solidFill>
                  <a:srgbClr val="D9DBEA"/>
                </a:solidFill>
                <a:latin typeface="Arial" pitchFamily="34" charset="0"/>
                <a:ea typeface="Arial" pitchFamily="34" charset="-122"/>
                <a:cs typeface="Arial" pitchFamily="34" charset="-120"/>
              </a:rPr>
              <a:t>El trabajo de base que sostiene los resultados</a:t>
            </a:r>
            <a:endParaRPr lang="en-US" sz="1600" dirty="0"/>
          </a:p>
        </p:txBody>
      </p:sp>
      <p:sp>
        <p:nvSpPr>
          <p:cNvPr id="4" name="Shape 2"/>
          <p:cNvSpPr/>
          <p:nvPr/>
        </p:nvSpPr>
        <p:spPr>
          <a:xfrm>
            <a:off x="548640" y="1828800"/>
            <a:ext cx="731520" cy="731520"/>
          </a:xfrm>
          <a:prstGeom prst="ellipse">
            <a:avLst/>
          </a:prstGeom>
          <a:solidFill>
            <a:srgbClr val="FFE600"/>
          </a:solidFill>
          <a:ln w="12700">
            <a:solidFill>
              <a:srgbClr val="FFE600"/>
            </a:solidFill>
            <a:prstDash val="solid"/>
          </a:ln>
        </p:spPr>
      </p:sp>
      <p:pic>
        <p:nvPicPr>
          <p:cNvPr id="5" name="Image 0" descr="preencoded.png">    </p:cNvPr>
          <p:cNvPicPr>
            <a:picLocks noChangeAspect="1"/>
          </p:cNvPicPr>
          <p:nvPr/>
        </p:nvPicPr>
        <p:blipFill>
          <a:blip r:embed="rId1"/>
          <a:stretch>
            <a:fillRect/>
          </a:stretch>
        </p:blipFill>
        <p:spPr>
          <a:xfrm>
            <a:off x="738835" y="2018995"/>
            <a:ext cx="351130" cy="351130"/>
          </a:xfrm>
          <a:prstGeom prst="rect">
            <a:avLst/>
          </a:prstGeom>
        </p:spPr>
      </p:pic>
      <p:sp>
        <p:nvSpPr>
          <p:cNvPr id="6" name="Text 3"/>
          <p:cNvSpPr txBox="1"/>
          <p:nvPr/>
        </p:nvSpPr>
        <p:spPr>
          <a:xfrm>
            <a:off x="548640" y="2743200"/>
            <a:ext cx="2496312"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Fotos</a:t>
            </a:r>
            <a:endParaRPr lang="en-US" sz="1800" dirty="0"/>
          </a:p>
        </p:txBody>
      </p:sp>
      <p:sp>
        <p:nvSpPr>
          <p:cNvPr id="7" name="Text 4"/>
          <p:cNvSpPr txBox="1"/>
          <p:nvPr/>
        </p:nvSpPr>
        <p:spPr>
          <a:xfrm>
            <a:off x="548640" y="3154680"/>
            <a:ext cx="2313432" cy="822960"/>
          </a:xfrm>
          <a:prstGeom prst="rect">
            <a:avLst/>
          </a:prstGeom>
          <a:noFill/>
          <a:ln/>
        </p:spPr>
        <p:txBody>
          <a:bodyPr wrap="square" lIns="0" tIns="0" rIns="0" bIns="0" rtlCol="0" anchor="t"/>
          <a:lstStyle/>
          <a:p>
            <a:pPr indent="0" marL="0">
              <a:buNone/>
            </a:pPr>
            <a:r>
              <a:rPr lang="en-US" sz="1300" dirty="0">
                <a:solidFill>
                  <a:srgbClr val="D9DBEA"/>
                </a:solidFill>
                <a:latin typeface="Arial" pitchFamily="34" charset="0"/>
                <a:ea typeface="Arial" pitchFamily="34" charset="-122"/>
                <a:cs typeface="Arial" pitchFamily="34" charset="-120"/>
              </a:rPr>
              <a:t>Imágenes nuevas para mostrar mejor cada producto.</a:t>
            </a:r>
            <a:endParaRPr lang="en-US" sz="1300" dirty="0"/>
          </a:p>
        </p:txBody>
      </p:sp>
      <p:sp>
        <p:nvSpPr>
          <p:cNvPr id="8" name="Shape 5"/>
          <p:cNvSpPr/>
          <p:nvPr/>
        </p:nvSpPr>
        <p:spPr>
          <a:xfrm>
            <a:off x="3319272" y="1828800"/>
            <a:ext cx="731520" cy="731520"/>
          </a:xfrm>
          <a:prstGeom prst="ellipse">
            <a:avLst/>
          </a:prstGeom>
          <a:solidFill>
            <a:srgbClr val="FFE600"/>
          </a:solidFill>
          <a:ln w="12700">
            <a:solidFill>
              <a:srgbClr val="FFE600"/>
            </a:solidFill>
            <a:prstDash val="solid"/>
          </a:ln>
        </p:spPr>
      </p:sp>
      <p:pic>
        <p:nvPicPr>
          <p:cNvPr id="9" name="Image 1" descr="preencoded.png">    </p:cNvPr>
          <p:cNvPicPr>
            <a:picLocks noChangeAspect="1"/>
          </p:cNvPicPr>
          <p:nvPr/>
        </p:nvPicPr>
        <p:blipFill>
          <a:blip r:embed="rId2"/>
          <a:stretch>
            <a:fillRect/>
          </a:stretch>
        </p:blipFill>
        <p:spPr>
          <a:xfrm>
            <a:off x="3509467" y="2018995"/>
            <a:ext cx="351130" cy="351130"/>
          </a:xfrm>
          <a:prstGeom prst="rect">
            <a:avLst/>
          </a:prstGeom>
        </p:spPr>
      </p:pic>
      <p:sp>
        <p:nvSpPr>
          <p:cNvPr id="10" name="Text 6"/>
          <p:cNvSpPr txBox="1"/>
          <p:nvPr/>
        </p:nvSpPr>
        <p:spPr>
          <a:xfrm>
            <a:off x="3319272" y="2743200"/>
            <a:ext cx="2496312"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Títulos</a:t>
            </a:r>
            <a:endParaRPr lang="en-US" sz="1800" dirty="0"/>
          </a:p>
        </p:txBody>
      </p:sp>
      <p:sp>
        <p:nvSpPr>
          <p:cNvPr id="11" name="Text 7"/>
          <p:cNvSpPr txBox="1"/>
          <p:nvPr/>
        </p:nvSpPr>
        <p:spPr>
          <a:xfrm>
            <a:off x="3319272" y="3154680"/>
            <a:ext cx="2313432" cy="822960"/>
          </a:xfrm>
          <a:prstGeom prst="rect">
            <a:avLst/>
          </a:prstGeom>
          <a:noFill/>
          <a:ln/>
        </p:spPr>
        <p:txBody>
          <a:bodyPr wrap="square" lIns="0" tIns="0" rIns="0" bIns="0" rtlCol="0" anchor="t"/>
          <a:lstStyle/>
          <a:p>
            <a:pPr indent="0" marL="0">
              <a:buNone/>
            </a:pPr>
            <a:r>
              <a:rPr lang="en-US" sz="1300" dirty="0">
                <a:solidFill>
                  <a:srgbClr val="D9DBEA"/>
                </a:solidFill>
                <a:latin typeface="Arial" pitchFamily="34" charset="0"/>
                <a:ea typeface="Arial" pitchFamily="34" charset="-122"/>
                <a:cs typeface="Arial" pitchFamily="34" charset="-120"/>
              </a:rPr>
              <a:t>Reescritos para aparecer en las búsquedas de los compradores.</a:t>
            </a:r>
            <a:endParaRPr lang="en-US" sz="1300" dirty="0"/>
          </a:p>
        </p:txBody>
      </p:sp>
      <p:sp>
        <p:nvSpPr>
          <p:cNvPr id="12" name="Shape 8"/>
          <p:cNvSpPr/>
          <p:nvPr/>
        </p:nvSpPr>
        <p:spPr>
          <a:xfrm>
            <a:off x="6089904" y="1828800"/>
            <a:ext cx="731520" cy="731520"/>
          </a:xfrm>
          <a:prstGeom prst="ellipse">
            <a:avLst/>
          </a:prstGeom>
          <a:solidFill>
            <a:srgbClr val="FFE600"/>
          </a:solidFill>
          <a:ln w="12700">
            <a:solidFill>
              <a:srgbClr val="FFE600"/>
            </a:solidFill>
            <a:prstDash val="solid"/>
          </a:ln>
        </p:spPr>
      </p:sp>
      <p:pic>
        <p:nvPicPr>
          <p:cNvPr id="13" name="Image 2" descr="preencoded.png">    </p:cNvPr>
          <p:cNvPicPr>
            <a:picLocks noChangeAspect="1"/>
          </p:cNvPicPr>
          <p:nvPr/>
        </p:nvPicPr>
        <p:blipFill>
          <a:blip r:embed="rId3"/>
          <a:stretch>
            <a:fillRect/>
          </a:stretch>
        </p:blipFill>
        <p:spPr>
          <a:xfrm>
            <a:off x="6280099" y="2018995"/>
            <a:ext cx="351130" cy="351130"/>
          </a:xfrm>
          <a:prstGeom prst="rect">
            <a:avLst/>
          </a:prstGeom>
        </p:spPr>
      </p:pic>
      <p:sp>
        <p:nvSpPr>
          <p:cNvPr id="14" name="Text 9"/>
          <p:cNvSpPr txBox="1"/>
          <p:nvPr/>
        </p:nvSpPr>
        <p:spPr>
          <a:xfrm>
            <a:off x="6089904" y="2743200"/>
            <a:ext cx="2496312"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Fichas técnicas</a:t>
            </a:r>
            <a:endParaRPr lang="en-US" sz="1800" dirty="0"/>
          </a:p>
        </p:txBody>
      </p:sp>
      <p:sp>
        <p:nvSpPr>
          <p:cNvPr id="15" name="Text 10"/>
          <p:cNvSpPr txBox="1"/>
          <p:nvPr/>
        </p:nvSpPr>
        <p:spPr>
          <a:xfrm>
            <a:off x="6089904" y="3154680"/>
            <a:ext cx="2313432" cy="822960"/>
          </a:xfrm>
          <a:prstGeom prst="rect">
            <a:avLst/>
          </a:prstGeom>
          <a:noFill/>
          <a:ln/>
        </p:spPr>
        <p:txBody>
          <a:bodyPr wrap="square" lIns="0" tIns="0" rIns="0" bIns="0" rtlCol="0" anchor="t"/>
          <a:lstStyle/>
          <a:p>
            <a:pPr indent="0" marL="0">
              <a:buNone/>
            </a:pPr>
            <a:r>
              <a:rPr lang="en-US" sz="1300" dirty="0">
                <a:solidFill>
                  <a:srgbClr val="D9DBEA"/>
                </a:solidFill>
                <a:latin typeface="Arial" pitchFamily="34" charset="0"/>
                <a:ea typeface="Arial" pitchFamily="34" charset="-122"/>
                <a:cs typeface="Arial" pitchFamily="34" charset="-120"/>
              </a:rPr>
              <a:t>Atributos completos para filtros, comparación y menos consultas.</a:t>
            </a:r>
            <a:endParaRPr lang="en-US" sz="1300" dirty="0"/>
          </a:p>
        </p:txBody>
      </p:sp>
      <p:sp>
        <p:nvSpPr>
          <p:cNvPr id="16" name="Text 11"/>
          <p:cNvSpPr txBox="1"/>
          <p:nvPr/>
        </p:nvSpPr>
        <p:spPr>
          <a:xfrm>
            <a:off x="548640" y="4160520"/>
            <a:ext cx="8046720" cy="457200"/>
          </a:xfrm>
          <a:prstGeom prst="rect">
            <a:avLst/>
          </a:prstGeom>
          <a:noFill/>
          <a:ln/>
        </p:spPr>
        <p:txBody>
          <a:bodyPr wrap="square" lIns="0" tIns="0" rIns="0" bIns="0" rtlCol="0" anchor="ctr"/>
          <a:lstStyle/>
          <a:p>
            <a:pPr indent="0" marL="0">
              <a:buNone/>
            </a:pPr>
            <a:r>
              <a:rPr lang="en-US" sz="1500" b="1" i="1" dirty="0">
                <a:solidFill>
                  <a:srgbClr val="FFE600"/>
                </a:solidFill>
                <a:latin typeface="Arial" pitchFamily="34" charset="0"/>
                <a:ea typeface="Arial" pitchFamily="34" charset="-122"/>
                <a:cs typeface="Arial" pitchFamily="34" charset="-120"/>
              </a:rPr>
              <a:t>Más ventas, más unidades y publicidad más eficiente, sobre un catálogo renovado.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Resultados Mercado Libre · junio–noviembre 2025</dc:title>
  <dc:subject>PptxGenJS Presentation</dc:subject>
  <dc:creator>PptxGenJS</dc:creator>
  <cp:lastModifiedBy>PptxGenJS</cp:lastModifiedBy>
  <cp:revision>1</cp:revision>
  <dcterms:created xsi:type="dcterms:W3CDTF">2026-09-30T19:55:12Z</dcterms:created>
  <dcterms:modified xsi:type="dcterms:W3CDTF">2026-09-30T19:55:12Z</dcterms:modified>
</cp:coreProperties>
</file>