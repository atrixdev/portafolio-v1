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097280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Seis meses en Mercado Libre: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vendemos más y gastamos mejor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CCD6"/>
                </a:solidFill>
                <a:latin typeface="Arial"/>
              </a:rPr>
              <a:t>Resultados de la gestión de las tiendas oficiales · Junio a noviembre de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E600"/>
                </a:solidFill>
                <a:latin typeface="Arial"/>
              </a:rPr>
              <a:t>Presentación para la Dirección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080"/>
                </a:solidFill>
                <a:latin typeface="Arial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45C"/>
                </a:solidFill>
                <a:latin typeface="Arial"/>
              </a:rPr>
              <a:t>Cuatro números que resumen el semestre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0"/>
                </a:solidFill>
                <a:latin typeface="Arial"/>
              </a:rPr>
              <a:t>Tiendas oficiales en Mercado Libre · Junio–noviembre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080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2560320" cy="35661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56032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10312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45C"/>
                </a:solidFill>
                <a:latin typeface="Arial"/>
              </a:rPr>
              <a:t>+38,9%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633"/>
                </a:solidFill>
                <a:latin typeface="Arial"/>
              </a:rPr>
              <a:t>en ventas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Arial"/>
              </a:rPr>
              <a:t>Crecimiento de la facturación en Mercado Libre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2057400"/>
            <a:ext cx="2560320" cy="35661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56032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560320"/>
            <a:ext cx="210312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45C"/>
                </a:solidFill>
                <a:latin typeface="Arial"/>
              </a:rPr>
              <a:t>+32,4%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611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633"/>
                </a:solidFill>
                <a:latin typeface="Arial"/>
              </a:rPr>
              <a:t>en unidades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2062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Arial"/>
              </a:rPr>
              <a:t>Más volumen, no solo más precio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2057400"/>
            <a:ext cx="2560320" cy="35661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56032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560320"/>
            <a:ext cx="210312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45C"/>
                </a:solidFill>
                <a:latin typeface="Arial"/>
              </a:rP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611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633"/>
                </a:solidFill>
                <a:latin typeface="Arial"/>
              </a:rPr>
              <a:t>ACOS de Product Ads (era 30%)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2062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Arial"/>
              </a:rPr>
              <a:t>Cada $100 vendidos con anuncios cuestan $12, no $30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9408" y="2057400"/>
            <a:ext cx="2560320" cy="35661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56032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560320"/>
            <a:ext cx="210312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45C"/>
                </a:solidFill>
                <a:latin typeface="Arial"/>
              </a:rPr>
              <a:t>+200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611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633"/>
                </a:solidFill>
                <a:latin typeface="Arial"/>
              </a:rPr>
              <a:t>publicaciones rehechas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420624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Arial"/>
              </a:rPr>
              <a:t>Fotos, títulos y fichas técnicas nuevas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080"/>
                </a:solidFill>
                <a:latin typeface="Arial"/>
              </a:rPr>
              <a:t>CRECIMIENTO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45C"/>
                </a:solidFill>
                <a:latin typeface="Arial"/>
              </a:rPr>
              <a:t>Las ventas crecieron casi 40% y el volumen acompañó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0"/>
                </a:solidFill>
                <a:latin typeface="Arial"/>
              </a:rPr>
              <a:t>Tiendas oficiales en Mercado Libre · Junio–noviembre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08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Arial"/>
              </a:rPr>
              <a:t>Índice: situación inicial =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33"/>
                </a:solidFill>
                <a:latin typeface="Arial"/>
              </a:rPr>
              <a:t>Ventas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4049485" cy="384048"/>
          </a:xfrm>
          <a:prstGeom prst="rect">
            <a:avLst/>
          </a:prstGeom>
          <a:solidFill>
            <a:srgbClr val="C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9293" y="26060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Arial"/>
              </a:rPr>
              <a:t>Base ·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5624735" cy="384048"/>
          </a:xfrm>
          <a:prstGeom prst="rect">
            <a:avLst/>
          </a:prstGeom>
          <a:solidFill>
            <a:srgbClr val="1F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543" y="306324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Arial"/>
              </a:rPr>
              <a:t>Ahora · </a:t>
            </a:r>
            <a:r>
              <a:rPr sz="1400" b="1">
                <a:solidFill>
                  <a:srgbClr val="1E9E5A"/>
                </a:solidFill>
                <a:latin typeface="Arial"/>
              </a:rPr>
              <a:t>+38,9%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2633"/>
                </a:solidFill>
                <a:latin typeface="Arial"/>
              </a:rPr>
              <a:t>Unidades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4049485" cy="384048"/>
          </a:xfrm>
          <a:prstGeom prst="rect">
            <a:avLst/>
          </a:prstGeom>
          <a:solidFill>
            <a:srgbClr val="C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9293" y="42062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Arial"/>
              </a:rPr>
              <a:t>Base ·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5361519" cy="384048"/>
          </a:xfrm>
          <a:prstGeom prst="rect">
            <a:avLst/>
          </a:prstGeom>
          <a:solidFill>
            <a:srgbClr val="1F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1327" y="466344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080"/>
                </a:solidFill>
                <a:latin typeface="Arial"/>
              </a:rPr>
              <a:t>Ahora · </a:t>
            </a:r>
            <a:r>
              <a:rPr sz="1400" b="1">
                <a:solidFill>
                  <a:srgbClr val="1E9E5A"/>
                </a:solidFill>
                <a:latin typeface="Arial"/>
              </a:rPr>
              <a:t>+32,4%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783080"/>
            <a:ext cx="3886200" cy="40233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783080"/>
            <a:ext cx="91440" cy="402336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05740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45C"/>
                </a:solidFill>
                <a:latin typeface="Arial"/>
              </a:rPr>
              <a:t>Qué nos dice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22633"/>
                </a:solidFill>
                <a:latin typeface="Arial"/>
              </a:rPr>
              <a:t>El crecimiento es de volumen: </a:t>
            </a:r>
            <a:r>
              <a:rPr sz="1500" b="0">
                <a:solidFill>
                  <a:srgbClr val="222633"/>
                </a:solidFill>
                <a:latin typeface="Arial"/>
              </a:rPr>
              <a:t>vendemos un tercio más de unidades, no solo a mejor precio.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22633"/>
                </a:solidFill>
                <a:latin typeface="Arial"/>
              </a:rPr>
              <a:t>Las ventas crecen más que las unidades, </a:t>
            </a:r>
            <a:r>
              <a:rPr sz="1500" b="0">
                <a:solidFill>
                  <a:srgbClr val="222633"/>
                </a:solidFill>
                <a:latin typeface="Arial"/>
              </a:rPr>
              <a:t>así que el ticket promedio también subió (≈ +4,9%).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22633"/>
                </a:solidFill>
                <a:latin typeface="Arial"/>
              </a:rPr>
              <a:t>Y con publicidad más eficiente: </a:t>
            </a:r>
            <a:r>
              <a:rPr sz="1500" b="0">
                <a:solidFill>
                  <a:srgbClr val="222633"/>
                </a:solidFill>
                <a:latin typeface="Arial"/>
              </a:rPr>
              <a:t>el ACOS bajó a menos de la mitad (siguiente lámina).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080"/>
                </a:solidFill>
                <a:latin typeface="Arial"/>
              </a:rPr>
              <a:t>PUBLICIDAD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45C"/>
                </a:solidFill>
                <a:latin typeface="Arial"/>
              </a:rPr>
              <a:t>Product Ads: el ACOS bajó de 30% a 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0"/>
                </a:solidFill>
                <a:latin typeface="Arial"/>
              </a:rPr>
              <a:t>Tiendas oficiales en Mercado Libre · Junio–noviembre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080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560320"/>
            <a:ext cx="1554480" cy="3108960"/>
          </a:xfrm>
          <a:prstGeom prst="rect">
            <a:avLst/>
          </a:prstGeom>
          <a:solidFill>
            <a:srgbClr val="C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74520"/>
            <a:ext cx="1554480" cy="594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222633"/>
                </a:solidFill>
                <a:latin typeface="Arial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779008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080"/>
                </a:solidFill>
                <a:latin typeface="Arial"/>
              </a:rPr>
              <a:t>Junio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425696"/>
            <a:ext cx="1554480" cy="1243584"/>
          </a:xfrm>
          <a:prstGeom prst="rect">
            <a:avLst/>
          </a:prstGeom>
          <a:solidFill>
            <a:srgbClr val="1F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739896"/>
            <a:ext cx="1554480" cy="594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1F245C"/>
                </a:solidFill>
                <a:latin typeface="Arial"/>
              </a:rPr>
              <a:t>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779008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B7080"/>
                </a:solidFill>
                <a:latin typeface="Arial"/>
              </a:rPr>
              <a:t>Noviembre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669280"/>
            <a:ext cx="5120640" cy="12700"/>
          </a:xfrm>
          <a:prstGeom prst="rect">
            <a:avLst/>
          </a:prstGeom>
          <a:solidFill>
            <a:srgbClr val="6B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080"/>
                </a:solidFill>
                <a:latin typeface="Arial"/>
              </a:rPr>
              <a:t>ACOS: inversión publicitaria / ventas por anuncios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92024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F245C"/>
                </a:solidFill>
                <a:latin typeface="Arial"/>
              </a:rPr>
              <a:t>−18 puntos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633"/>
                </a:solidFill>
                <a:latin typeface="Arial"/>
              </a:rPr>
              <a:t>de ACOS: el costo publicitario por venta bajó 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290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22633"/>
                </a:solidFill>
                <a:latin typeface="Arial"/>
              </a:rPr>
              <a:t>Antes: </a:t>
            </a:r>
            <a:r>
              <a:rPr sz="1500" b="0">
                <a:solidFill>
                  <a:srgbClr val="222633"/>
                </a:solidFill>
                <a:latin typeface="Arial"/>
              </a:rPr>
              <a:t>por cada $100 vendidos con anuncios, se invertían $30.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22633"/>
                </a:solidFill>
                <a:latin typeface="Arial"/>
              </a:rPr>
              <a:t>Hoy: </a:t>
            </a:r>
            <a:r>
              <a:rPr sz="1500" b="0">
                <a:solidFill>
                  <a:srgbClr val="222633"/>
                </a:solidFill>
                <a:latin typeface="Arial"/>
              </a:rPr>
              <a:t>se invierten $12. Los $18 de diferencia quedan como margen.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22633"/>
                </a:solidFill>
                <a:latin typeface="Arial"/>
              </a:rPr>
              <a:t>En otras palabras: </a:t>
            </a:r>
            <a:r>
              <a:rPr sz="1500" b="0">
                <a:solidFill>
                  <a:srgbClr val="222633"/>
                </a:solidFill>
                <a:latin typeface="Arial"/>
              </a:rPr>
              <a:t>cada peso invertido en anuncios hoy genera 2,5 veces más ventas que en junio.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080"/>
                </a:solidFill>
                <a:latin typeface="Arial"/>
              </a:rPr>
              <a:t>CATÁLOGO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45C"/>
                </a:solidFill>
                <a:latin typeface="Arial"/>
              </a:rPr>
              <a:t>Más de 200 publicaciones rehechas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080"/>
                </a:solidFill>
                <a:latin typeface="Arial"/>
              </a:rPr>
              <a:t>Tiendas oficiales en Mercado Libre · Junio–noviembre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080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7472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240280"/>
            <a:ext cx="502920" cy="5029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F245C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6771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45C"/>
                </a:solidFill>
                <a:latin typeface="Arial"/>
              </a:rPr>
              <a:t>Fotos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633"/>
                </a:solidFill>
                <a:latin typeface="Arial"/>
              </a:rPr>
              <a:t>Imágenes nuevas que muestran mejor el producto y generan más clics.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47472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240280"/>
            <a:ext cx="502920" cy="5029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F245C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6771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45C"/>
                </a:solidFill>
                <a:latin typeface="Arial"/>
              </a:rPr>
              <a:t>Títulos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260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633"/>
                </a:solidFill>
                <a:latin typeface="Arial"/>
              </a:rPr>
              <a:t>Reescritos con las palabras que usa el comprador para buscar.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474720" cy="201168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2240280"/>
            <a:ext cx="502920" cy="5029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F245C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67712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45C"/>
                </a:solidFill>
                <a:latin typeface="Arial"/>
              </a:rPr>
              <a:t>Fichas técnicas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260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633"/>
                </a:solidFill>
                <a:latin typeface="Arial"/>
              </a:rPr>
              <a:t>Atributos completos para aparecer en filtros y comparar mejor.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43400"/>
            <a:ext cx="10911535" cy="1508760"/>
          </a:xfrm>
          <a:prstGeom prst="rect">
            <a:avLst/>
          </a:prstGeom>
          <a:solidFill>
            <a:srgbClr val="1F2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43400"/>
            <a:ext cx="10180015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E600"/>
                </a:solidFill>
                <a:latin typeface="Arial"/>
              </a:rPr>
              <a:t>En síntesis: </a:t>
            </a:r>
            <a:r>
              <a:rPr sz="2000" b="0">
                <a:solidFill>
                  <a:srgbClr val="FFFFFF"/>
                </a:solidFill>
                <a:latin typeface="Arial"/>
              </a:rPr>
              <a:t>mejores publicaciones convierten más, eso hace rendir la publicidad y el resultado es +38,9% en ventas con un ACOS 60% más bajo.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